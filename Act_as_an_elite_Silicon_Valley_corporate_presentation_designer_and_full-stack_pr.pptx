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positioning: we build the software AND the growth pipeline. Most enterprises buy these from two vendors who never talk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we exist to solve: the market splits engineering and growth into two camps. Each camp has a structural blindspot the other can't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answer: one team operating three connected layers. Tech, distribution, and telemetry feed each other in a closed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engineering pillar: the internal systems that run the business. ERP, CRM and internal ops apps, all mapped to the client's actual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engineering pillar: the customer-facing surface. Fast web ecosystems, cross-platform apps, and the hardening that keeps them up under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growth side. Paid distribution, conversion optimization, and attribution that ties spend to settled revenue, not vanity clicks.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organic counterpart to paid. SEO, content architecture and brand identity that compound authority over time rather than renting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this has been deployed. Four verticals, each with different load profiles, all served by the same unified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an engagement runs. Four phases, audit through compounding scale. Emphasize zero-downtime rollover at launch and that phase four never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Walk down the BuildGrowth column — it's the only one that's green the whole way down. That's the pitch in one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people behind it. One owns the code and infrastructure, the other owns the funnel and spend. Two disciplines, one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client speak. The number that matters: 140% in 90 days, with one team owning both sides. Pause after reading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three questions every technical buyer asks: custom vs template, modular engagement, and IP ownership. Lead with the ownership answer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offer: bring the bottleneck, we build the system. Read the contact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707d1375-fe7a-40b2-8117-bd54e6464262.claudeusercontent.com/cdn-cgi/l/email-protec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10287000"/>
          </a:xfrm>
          <a:prstGeom prst="rect">
            <a:avLst/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00FF8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3144500" y="-2095500"/>
            <a:ext cx="6858000" cy="6858000"/>
          </a:xfrm>
          <a:prstGeom prst="rect">
            <a:avLst/>
          </a:prstGeom>
          <a:gradFill rotWithShape="1">
            <a:gsLst>
              <a:gs pos="0">
                <a:srgbClr val="00E5FF">
                  <a:alpha val="10000"/>
                </a:srgbClr>
              </a:gs>
              <a:gs pos="7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38250" y="3443883"/>
            <a:ext cx="5334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1943100" y="3301008"/>
            <a:ext cx="61457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 &amp; CREDENTIALS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4120158"/>
            <a:ext cx="17497425" cy="1398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400" b="1" spc="-399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BuildGrowth</a:t>
            </a:r>
            <a:endParaRPr lang="en-US" sz="11400" dirty="0"/>
          </a:p>
        </p:txBody>
      </p:sp>
      <p:sp>
        <p:nvSpPr>
          <p:cNvPr id="7" name="Text 5"/>
          <p:cNvSpPr/>
          <p:nvPr/>
        </p:nvSpPr>
        <p:spPr>
          <a:xfrm>
            <a:off x="1238250" y="5919192"/>
            <a:ext cx="1059561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custom software &amp; high-performance growth pipelines for modern enterprises.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50" y="9277350"/>
            <a:ext cx="68800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E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 &amp; CREDENTIALS DECK · 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3302" y="9401175"/>
            <a:ext cx="57150" cy="5715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0" name="Text 8"/>
          <p:cNvSpPr/>
          <p:nvPr/>
        </p:nvSpPr>
        <p:spPr>
          <a:xfrm>
            <a:off x="7930952" y="9277350"/>
            <a:ext cx="3983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BUILDGROWTH.VERCEL.APP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31684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415453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Fragmented Digital Ecosystem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385020"/>
            <a:ext cx="8380016" cy="5608439"/>
          </a:xfrm>
          <a:prstGeom prst="roundRect">
            <a:avLst>
              <a:gd name="adj" fmla="val 340"/>
            </a:avLst>
          </a:prstGeom>
          <a:solidFill>
            <a:srgbClr val="131A2A"/>
          </a:solidFill>
          <a:ln w="6350">
            <a:solidFill>
              <a:srgbClr val="00E5FF">
                <a:alpha val="3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0350" y="2886670"/>
            <a:ext cx="815629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Engineering Blindspot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30350" y="3502621"/>
            <a:ext cx="76372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C8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 development houses write stable, secure core logic code architectures.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530350" y="5523309"/>
            <a:ext cx="7414816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30350" y="5815410"/>
            <a:ext cx="40938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STRUCTURAL PENALTY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0350" y="6291660"/>
            <a:ext cx="76372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lack native market execution metrics, resulting in highly technical systems that generate zero operational user traction or customer conversion value loops.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808766" y="2385020"/>
            <a:ext cx="7431485" cy="5608439"/>
          </a:xfrm>
          <a:prstGeom prst="roundRect">
            <a:avLst>
              <a:gd name="adj" fmla="val 340"/>
            </a:avLst>
          </a:prstGeom>
          <a:solidFill>
            <a:srgbClr val="131A2A"/>
          </a:solidFill>
          <a:ln w="6350">
            <a:solidFill>
              <a:srgbClr val="00FF87">
                <a:alpha val="3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91366" y="2886670"/>
            <a:ext cx="711291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The Marketing Agency Trap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1366" y="3502621"/>
            <a:ext cx="6660273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C8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creative agencies deploy aesthetic social content assets and run basic localized media spend parameters.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10291366" y="5123259"/>
            <a:ext cx="6466284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91366" y="5415360"/>
            <a:ext cx="39077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TECHNICAL PENALTY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91366" y="5891610"/>
            <a:ext cx="666027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hold zero full-stack engineering capability, generating broken telemetry pixels, sluggish template stacks, and unmapped database connections.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0" y="8374460"/>
            <a:ext cx="16192500" cy="1074341"/>
          </a:xfrm>
          <a:prstGeom prst="roundRect">
            <a:avLst>
              <a:gd name="adj" fmla="val 1773"/>
            </a:avLst>
          </a:prstGeom>
          <a:solidFill>
            <a:srgbClr val="00FF87">
              <a:alpha val="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8374460"/>
            <a:ext cx="25400" cy="1074341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20" name="Text 18"/>
          <p:cNvSpPr/>
          <p:nvPr/>
        </p:nvSpPr>
        <p:spPr>
          <a:xfrm>
            <a:off x="1511300" y="8698310"/>
            <a:ext cx="1681988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your software architecture doesn't talk directly to your growth engine, your enterprise bleeds margin.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300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OPERATING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6499543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Digital Execution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38900" y="2537420"/>
            <a:ext cx="9525" cy="69113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613620"/>
            <a:ext cx="525970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/01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47750" y="3274021"/>
            <a:ext cx="5259705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14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 Architecture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47750" y="3915966"/>
            <a:ext cx="4924997" cy="2178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system scaling configurations, specialized enterprise internal database management networks, and fluid cross-platform ecosystem builds.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1836400" y="2537420"/>
            <a:ext cx="9525" cy="69113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54850" y="2613620"/>
            <a:ext cx="458914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054850" y="3274021"/>
            <a:ext cx="4589145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14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Distribution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054850" y="3915966"/>
            <a:ext cx="4297109" cy="2606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target demographic modeling, programmatic media-buying architectures across prime ad exchanges, and optimized intent matching paths.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2452350" y="2613620"/>
            <a:ext cx="526669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452350" y="3274021"/>
            <a:ext cx="5266690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14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Telemetry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52350" y="3915966"/>
            <a:ext cx="4931537" cy="175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server data logging infrastructure, precise analytical pipeline setups, and closed-loop data tracking architectures.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7526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ENGINEERING ·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532342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Systems — ERP &amp; CRM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78953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195935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47750" y="3805535"/>
            <a:ext cx="43815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3124200" y="3195935"/>
            <a:ext cx="5455084" cy="802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Enterprise ERP Frameworks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877598" y="3195935"/>
            <a:ext cx="861353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internal resource planning architectures built entirely mapped directly onto your unique localized operational vectors and logistics paths to remove human processing lag.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50" y="479613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5202535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047750" y="5812135"/>
            <a:ext cx="43815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3124200" y="5202535"/>
            <a:ext cx="5825817" cy="42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Scale CRM Networks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877598" y="5202535"/>
            <a:ext cx="861353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client relationship platforms offering instant dashboard visibility on user actions, automated notification parameters, and real-time intake data feeds.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880933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680273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7209136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047750" y="7818736"/>
            <a:ext cx="43815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3124200" y="7209136"/>
            <a:ext cx="5825817" cy="42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Management Applications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877598" y="7209136"/>
            <a:ext cx="861353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operational software modules designed to automate inventory cycles, coordinate multi-layered transaction invoicing, and compile secure cross-department data charts.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7526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ENGINEERING ·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369723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Web &amp; Mobile Applications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3200" y="2886670"/>
            <a:ext cx="4572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" y="3734395"/>
            <a:ext cx="472186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Web Ecosystems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73200" y="4389636"/>
            <a:ext cx="4421378" cy="2383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responsive corporate environments and customer-facing web environments written on production-optimized server frames engineered to retain performance peaks during load surge spikes.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5722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7700" y="2886670"/>
            <a:ext cx="4572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97700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7700" y="3734395"/>
            <a:ext cx="4421378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Application Engineering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997700" y="4778177"/>
            <a:ext cx="4421378" cy="1992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mobile deployment frames built natively to balance reliable data flow parameters with seamless gesture handling across iOS and Android system baselines.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20967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2201" y="2886670"/>
            <a:ext cx="457200" cy="285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522201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522201" y="3734395"/>
            <a:ext cx="4421378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Hardening &amp; High Availability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522201" y="4778177"/>
            <a:ext cx="4421378" cy="2383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secure data encryption configurations, isolated high-reliability cloud instances, continuous automated backup systems, and aggressive logic maintenance monitoring loops.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073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ENGINE ·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6269583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Marketing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38948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795885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47750" y="3405485"/>
            <a:ext cx="43815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9" name="Text 7"/>
          <p:cNvSpPr/>
          <p:nvPr/>
        </p:nvSpPr>
        <p:spPr>
          <a:xfrm>
            <a:off x="3124200" y="2795885"/>
            <a:ext cx="5825817" cy="42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Growth Deployment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877598" y="2795885"/>
            <a:ext cx="861353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paid distribution across premier programmatic ad auctions — Google Search, Meta Network, LinkedIn B2B Exchange — tracking targeted volume customer discovery indices and verified Return on Ad Spend (ROAS).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47750" y="479613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5202535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047750" y="5812135"/>
            <a:ext cx="43815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14" name="Text 12"/>
          <p:cNvSpPr/>
          <p:nvPr/>
        </p:nvSpPr>
        <p:spPr>
          <a:xfrm>
            <a:off x="3124200" y="5202535"/>
            <a:ext cx="5825817" cy="420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Framework Optimization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877598" y="5202535"/>
            <a:ext cx="861353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optimization of incoming landing environments and client intent-matching sequences to clean tracking bottlenecks, eliminate interaction waste, and extract extreme conversion margins.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920938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7202785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7609186"/>
            <a:ext cx="17811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047750" y="8218786"/>
            <a:ext cx="43815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20" name="Text 18"/>
          <p:cNvSpPr/>
          <p:nvPr/>
        </p:nvSpPr>
        <p:spPr>
          <a:xfrm>
            <a:off x="3124200" y="7609186"/>
            <a:ext cx="5455084" cy="802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Attribution System Configuration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877598" y="7609186"/>
            <a:ext cx="861353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multi-source conversion telemetry modules and tracking protocols to trace client behavior from first impression click to settled platform transaction revenue.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073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ENGINE ·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8076843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Visibility &amp; Positioning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3200" y="2886670"/>
            <a:ext cx="45720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3200" y="3734395"/>
            <a:ext cx="4421378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Authority Engineering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73200" y="4778177"/>
            <a:ext cx="4421378" cy="2383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programmatic metadata cleanups, system core vitals tuning, and strategic index path structures designed to capture highly contested commercial intent search keywords permanently.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5722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7700" y="2886670"/>
            <a:ext cx="45720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13" name="Text 11"/>
          <p:cNvSpPr/>
          <p:nvPr/>
        </p:nvSpPr>
        <p:spPr>
          <a:xfrm>
            <a:off x="6997700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7700" y="3734395"/>
            <a:ext cx="4421378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Content Architecture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997700" y="4778177"/>
            <a:ext cx="4421378" cy="1992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Production-quality high-fidelity distribution plans engineered to map against targeted corporate demographics and build long-term institutional authority loops.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2096750" y="2423120"/>
            <a:ext cx="5143500" cy="7025680"/>
          </a:xfrm>
          <a:prstGeom prst="roundRect">
            <a:avLst>
              <a:gd name="adj" fmla="val 370"/>
            </a:avLst>
          </a:prstGeom>
          <a:solidFill>
            <a:srgbClr val="131A2A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2201" y="2886670"/>
            <a:ext cx="457200" cy="28575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18" name="Text 16"/>
          <p:cNvSpPr/>
          <p:nvPr/>
        </p:nvSpPr>
        <p:spPr>
          <a:xfrm>
            <a:off x="12522201" y="3258145"/>
            <a:ext cx="4721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522201" y="3734395"/>
            <a:ext cx="4421378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Visual Strategy &amp; Identity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522201" y="4778177"/>
            <a:ext cx="4421378" cy="1992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Meticulous brand art direction, uniform asset rules, and crisp UI style guides built to create aesthetic consistency across all target channels.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27158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RECORD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993570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Across Major Market Verticals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5910560"/>
            <a:ext cx="80962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37650" y="2385020"/>
            <a:ext cx="9525" cy="353189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2823170"/>
            <a:ext cx="7300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3305770"/>
            <a:ext cx="822833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B2B &amp; Industrial Networks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1047750" y="3873401"/>
            <a:ext cx="770470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tracking tools, internal software setups, custom logistics planning setups, and enterprise client tracking management grids.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0" y="5910560"/>
            <a:ext cx="80962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53600" y="2823170"/>
            <a:ext cx="7300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53600" y="3305770"/>
            <a:ext cx="823531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Platforms &amp; Dynamic Retail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753600" y="3873401"/>
            <a:ext cx="771125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transaction tracking architectures, integrated instant stock updates, automated payment collection paths, and rapid client scale models.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137650" y="5916910"/>
            <a:ext cx="9525" cy="353189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6355060"/>
            <a:ext cx="7300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6837661"/>
            <a:ext cx="8228330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Providers &amp; Fast Tech Scale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1047750" y="7405291"/>
            <a:ext cx="770470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minimum viable product layout generation tracks built for fast technical pivot agility, secure customer scaling profiles, and user growth loops.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753600" y="6355060"/>
            <a:ext cx="7300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753600" y="6837661"/>
            <a:ext cx="823531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Educational &amp; Corporate Entities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9753600" y="7405291"/>
            <a:ext cx="771125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institutional operational dashboards, robust multi-branch management systems, and local institutional customer acquisition engines.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31684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10111334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Deliver — System Continuity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989685"/>
            <a:ext cx="16192500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884910"/>
            <a:ext cx="228600" cy="228600"/>
          </a:xfrm>
          <a:prstGeom prst="ellipse">
            <a:avLst/>
          </a:prstGeom>
          <a:solidFill>
            <a:srgbClr val="00E5FF"/>
          </a:solidFill>
          <a:ln w="44450">
            <a:solidFill>
              <a:srgbClr val="0B0F1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E5FF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7750" y="4494510"/>
            <a:ext cx="39081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4932661"/>
            <a:ext cx="39081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Audit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47750" y="5491460"/>
            <a:ext cx="365941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structural assessment of historical engineering performance, legacy code tracking setups, and pipeline customer discovery data leaks.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3884910"/>
            <a:ext cx="228600" cy="228600"/>
          </a:xfrm>
          <a:prstGeom prst="ellipse">
            <a:avLst/>
          </a:prstGeom>
          <a:solidFill>
            <a:srgbClr val="00FF87"/>
          </a:solidFill>
          <a:ln w="44450">
            <a:solidFill>
              <a:srgbClr val="0B0F1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F87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95875" y="4494510"/>
            <a:ext cx="39081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95875" y="4932661"/>
            <a:ext cx="39081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Engineering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95875" y="5491460"/>
            <a:ext cx="3659410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technical sprint deployment cycles crafting target logic elements, custom systems, and verified modern interactive layouts.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0" y="3884910"/>
            <a:ext cx="228600" cy="228600"/>
          </a:xfrm>
          <a:prstGeom prst="ellipse">
            <a:avLst/>
          </a:prstGeom>
          <a:solidFill>
            <a:srgbClr val="00E5FF"/>
          </a:solidFill>
          <a:ln w="44450">
            <a:solidFill>
              <a:srgbClr val="0B0F1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E5FF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4494510"/>
            <a:ext cx="39081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4932661"/>
            <a:ext cx="39081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Operations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5491460"/>
            <a:ext cx="3659410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structural systems rollover, perfect verification of data pipelines, and immediate live push of ad campaigns.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192125" y="3884910"/>
            <a:ext cx="228600" cy="228600"/>
          </a:xfrm>
          <a:prstGeom prst="ellipse">
            <a:avLst/>
          </a:prstGeom>
          <a:solidFill>
            <a:srgbClr val="00FF87"/>
          </a:solidFill>
          <a:ln w="44450">
            <a:solidFill>
              <a:srgbClr val="0B0F19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F87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192125" y="4494510"/>
            <a:ext cx="44529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192125" y="4932661"/>
            <a:ext cx="445293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Scale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192125" y="5491460"/>
            <a:ext cx="416956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processing loop optimization and ongoing adjustments to target distribution channels for extreme performance efficiency.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073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DIFFERENTIATOR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9380419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BuildGrowth Beats the Market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4015085"/>
            <a:ext cx="566737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456285"/>
            <a:ext cx="5646896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CORE CAPABILITY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15125" y="4015085"/>
            <a:ext cx="32385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43725" y="3456285"/>
            <a:ext cx="28784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8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Agencies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53625" y="4015085"/>
            <a:ext cx="32385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82225" y="3456285"/>
            <a:ext cx="287845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8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Dev-Only Shops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192125" y="3208635"/>
            <a:ext cx="4048125" cy="812800"/>
          </a:xfrm>
          <a:prstGeom prst="rect">
            <a:avLst/>
          </a:prstGeom>
          <a:solidFill>
            <a:srgbClr val="00FF87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192125" y="4015085"/>
            <a:ext cx="4048125" cy="9525"/>
          </a:xfrm>
          <a:prstGeom prst="rect">
            <a:avLst/>
          </a:prstGeom>
          <a:solidFill>
            <a:srgbClr val="00FF87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192125" y="3208635"/>
            <a:ext cx="4048125" cy="9525"/>
          </a:xfrm>
          <a:prstGeom prst="rect">
            <a:avLst/>
          </a:prstGeom>
          <a:solidFill>
            <a:srgbClr val="00FF87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458825" y="3462635"/>
            <a:ext cx="36361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BuildGrowth Engine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961235"/>
            <a:ext cx="56673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307185"/>
            <a:ext cx="564689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Enterprise ERP Platforms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715125" y="496123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43725" y="4307185"/>
            <a:ext cx="287845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Strategy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953625" y="496123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82225" y="4307185"/>
            <a:ext cx="287845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Build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3192125" y="4021435"/>
            <a:ext cx="4048125" cy="946150"/>
          </a:xfrm>
          <a:prstGeom prst="rect">
            <a:avLst/>
          </a:prstGeom>
          <a:solidFill>
            <a:srgbClr val="00FF87">
              <a:alpha val="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192125" y="4961235"/>
            <a:ext cx="4048125" cy="9525"/>
          </a:xfrm>
          <a:prstGeom prst="rect">
            <a:avLst/>
          </a:prstGeom>
          <a:solidFill>
            <a:srgbClr val="00FF87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458825" y="4307185"/>
            <a:ext cx="3636169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Asset Alignment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47750" y="6237585"/>
            <a:ext cx="56673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5253335"/>
            <a:ext cx="564689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Interface Engineering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715125" y="623758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43725" y="5253335"/>
            <a:ext cx="28784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Templates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953625" y="623758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182225" y="5253335"/>
            <a:ext cx="28784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Functional Code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3192125" y="4967585"/>
            <a:ext cx="4048125" cy="1276350"/>
          </a:xfrm>
          <a:prstGeom prst="rect">
            <a:avLst/>
          </a:prstGeom>
          <a:solidFill>
            <a:srgbClr val="00FF87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192125" y="6237585"/>
            <a:ext cx="4048125" cy="9525"/>
          </a:xfrm>
          <a:prstGeom prst="rect">
            <a:avLst/>
          </a:prstGeom>
          <a:solidFill>
            <a:srgbClr val="00FF87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458825" y="5253335"/>
            <a:ext cx="3636169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Grade Engine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047750" y="7412335"/>
            <a:ext cx="56673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47750" y="6529685"/>
            <a:ext cx="5646896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Funnel Media Scale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715125" y="741233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943725" y="6529685"/>
            <a:ext cx="287845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Execution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953625" y="7412335"/>
            <a:ext cx="3238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182225" y="6529685"/>
            <a:ext cx="287845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Capability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13192125" y="6243935"/>
            <a:ext cx="4048125" cy="1174750"/>
          </a:xfrm>
          <a:prstGeom prst="rect">
            <a:avLst/>
          </a:prstGeom>
          <a:solidFill>
            <a:srgbClr val="00FF87">
              <a:alpha val="7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192125" y="7412335"/>
            <a:ext cx="4048125" cy="9525"/>
          </a:xfrm>
          <a:prstGeom prst="rect">
            <a:avLst/>
          </a:prstGeom>
          <a:solidFill>
            <a:srgbClr val="00FF87">
              <a:alpha val="1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3458825" y="6529685"/>
            <a:ext cx="3636169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Optimization Architecture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047750" y="7704436"/>
            <a:ext cx="564689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Analytical Telemetry Loops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943725" y="7704436"/>
            <a:ext cx="287845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Pipelines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10182225" y="7704436"/>
            <a:ext cx="2878455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Tracking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13192125" y="7418686"/>
            <a:ext cx="4048125" cy="939800"/>
          </a:xfrm>
          <a:prstGeom prst="rect">
            <a:avLst/>
          </a:prstGeom>
          <a:solidFill>
            <a:srgbClr val="00FF87">
              <a:alpha val="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3192125" y="8352136"/>
            <a:ext cx="4048125" cy="9525"/>
          </a:xfrm>
          <a:prstGeom prst="rect">
            <a:avLst/>
          </a:prstGeom>
          <a:solidFill>
            <a:srgbClr val="00FF87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3458825" y="7704436"/>
            <a:ext cx="363616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Operational Loop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7526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FOUNDERS &amp; LEADERSHIP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7208957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Disciplines, One Table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37650" y="2385020"/>
            <a:ext cx="9525" cy="70637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385020"/>
            <a:ext cx="1219200" cy="1219200"/>
          </a:xfrm>
          <a:prstGeom prst="ellipse">
            <a:avLst/>
          </a:prstGeom>
          <a:solidFill>
            <a:srgbClr val="131A2A"/>
          </a:solidFill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391370"/>
            <a:ext cx="1282700" cy="124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552700" y="2442170"/>
            <a:ext cx="64890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52700" y="2975570"/>
            <a:ext cx="4986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Chief Software Architect &amp; Product Engineer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047750" y="4023320"/>
            <a:ext cx="7626223" cy="165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architectural baseline background covering structural software logic layout, complex algorithmic performance optimization, and production-ready enterprise systems execution patterns.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" y="5987455"/>
            <a:ext cx="74041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6279555"/>
            <a:ext cx="7163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6717705"/>
            <a:ext cx="762622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8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logic architectures, core security protocols, and secure cloud platform instances.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829800" y="2385020"/>
            <a:ext cx="1219200" cy="1219200"/>
          </a:xfrm>
          <a:prstGeom prst="ellipse">
            <a:avLst/>
          </a:prstGeom>
          <a:solidFill>
            <a:srgbClr val="131A2A"/>
          </a:solidFill>
          <a:ln w="6350">
            <a:solidFill>
              <a:srgbClr val="00FF8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8050" y="2391370"/>
            <a:ext cx="1282700" cy="124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4750" y="2442170"/>
            <a:ext cx="6496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[Co-Founder Name]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334750" y="2975570"/>
            <a:ext cx="48401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of Growth Marketing &amp; Funnel Operations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9829800" y="4023320"/>
            <a:ext cx="7632763" cy="1254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tracking specialist focused on user conversion metrics, cross-channel customer behavioral insights, and precise programmatic media allocation optimization layers.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829800" y="5582146"/>
            <a:ext cx="741045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5874246"/>
            <a:ext cx="7163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B7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9800" y="6312396"/>
            <a:ext cx="763276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8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traffic infrastructure, media acquisition spend, and total attribution mapping.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9789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OPERATIONAL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597746"/>
            <a:ext cx="38100" cy="539631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5" name="Text 3"/>
          <p:cNvSpPr/>
          <p:nvPr/>
        </p:nvSpPr>
        <p:spPr>
          <a:xfrm>
            <a:off x="1752600" y="2731096"/>
            <a:ext cx="147313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0500" dirty="0">
                <a:solidFill>
                  <a:srgbClr val="00FF87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752600" y="3340696"/>
            <a:ext cx="13793915" cy="3770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3450" spc="-34" kern="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BuildGrowth completely unified our operational backend and client acquisition system. They replaced our disjointed spreadsheets with a fluid custom CRM while simultaneously scaling our digital acquisitions by </a:t>
            </a:r>
            <a:pPr algn="l" indent="0" marL="0">
              <a:lnSpc>
                <a:spcPct val="142000"/>
              </a:lnSpc>
              <a:buNone/>
            </a:pPr>
            <a:r>
              <a:rPr lang="en-US" sz="3450" b="1" spc="-34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140% within 90 days </a:t>
            </a:r>
            <a:pPr algn="l" indent="0" marL="0">
              <a:lnSpc>
                <a:spcPct val="142000"/>
              </a:lnSpc>
              <a:buNone/>
            </a:pPr>
            <a:r>
              <a:rPr lang="en-US" sz="3450" spc="-34" kern="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Having a single team handle both high-end engineering and performance marketing changed how we scale.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752600" y="7530505"/>
            <a:ext cx="147313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88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[Client Executive Name], Director of Operations &amp; Technology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81075"/>
            <a:ext cx="381000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581150" y="838200"/>
            <a:ext cx="4300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33500"/>
            <a:ext cx="7535614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Asked Questions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056075" y="838200"/>
            <a:ext cx="12603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— 14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730599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136999"/>
            <a:ext cx="838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228850" y="3136999"/>
            <a:ext cx="1651254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rely on templates or build custom code?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228850" y="3696990"/>
            <a:ext cx="165125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develop fully customized, high-performance clean code tailored exactly to your architecture and enterprise goals.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4497090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903490"/>
            <a:ext cx="838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228850" y="4903490"/>
            <a:ext cx="1651254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engage BuildGrowth for a single business vertical?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228850" y="5463480"/>
            <a:ext cx="1546174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While our engine is strongest when combined, our Core Tech and Growth Marketing divisions can be hired independently to fix specific problems.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8830171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6663630"/>
            <a:ext cx="16192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7070031"/>
            <a:ext cx="838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228850" y="7070031"/>
            <a:ext cx="1651254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software code upon project completion?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2228850" y="7630021"/>
            <a:ext cx="1546174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8A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enterprise retains 100% intellectual property ownership. Full documentation, assets, and deployment keys are handed over cleanly.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10287000"/>
          </a:xfrm>
          <a:prstGeom prst="rect">
            <a:avLst/>
          </a:prstGeom>
          <a:gradFill rotWithShape="1">
            <a:gsLst>
              <a:gs pos="0">
                <a:srgbClr val="00FF87">
                  <a:alpha val="100000"/>
                </a:srgbClr>
              </a:gs>
              <a:gs pos="100000">
                <a:srgbClr val="00E5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428750" y="5905500"/>
            <a:ext cx="6477000" cy="6477000"/>
          </a:xfrm>
          <a:prstGeom prst="rect">
            <a:avLst/>
          </a:prstGeom>
          <a:gradFill rotWithShape="1">
            <a:gsLst>
              <a:gs pos="0">
                <a:srgbClr val="00FF87">
                  <a:alpha val="9000"/>
                </a:srgbClr>
              </a:gs>
              <a:gs pos="70000">
                <a:srgbClr val="00FF8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238250" y="2516684"/>
            <a:ext cx="533400" cy="1905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5" name="Text 3"/>
          <p:cNvSpPr/>
          <p:nvPr/>
        </p:nvSpPr>
        <p:spPr>
          <a:xfrm>
            <a:off x="1943100" y="2373809"/>
            <a:ext cx="47275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00F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ENGAGEMENT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135809"/>
            <a:ext cx="14519910" cy="1903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Engineer Your Growth Infrastructure.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5382121"/>
            <a:ext cx="11576685" cy="105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us your business bottlenecks. We will build the code and execution framework to scale them.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38250" y="7195642"/>
            <a:ext cx="380333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38250" y="7602042"/>
            <a:ext cx="380333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buildgrowth.vercel.app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229225" y="7195642"/>
            <a:ext cx="9525" cy="7175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72150" y="7195642"/>
            <a:ext cx="293893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INQUIRIES</a:t>
            </a:r>
            <a:endParaRPr lang="en-US" sz="1875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5772150" y="7602042"/>
            <a:ext cx="2938939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u="sng" spc="113" kern="0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977313" y="7195642"/>
            <a:ext cx="9525" cy="7175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20238" y="7195642"/>
            <a:ext cx="207454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5B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HQ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520238" y="7602042"/>
            <a:ext cx="207454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Delhi, India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2026-06-23T09:30:51Z</dcterms:created>
  <dcterms:modified xsi:type="dcterms:W3CDTF">2026-06-23T09:30:51Z</dcterms:modified>
</cp:coreProperties>
</file>